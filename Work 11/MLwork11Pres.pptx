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9" r:id="rId4"/>
  </p:sldMasterIdLst>
  <p:notesMasterIdLst>
    <p:notesMasterId r:id="rId14"/>
  </p:notesMasterIdLst>
  <p:handoutMasterIdLst>
    <p:handoutMasterId r:id="rId15"/>
  </p:handoutMasterIdLst>
  <p:sldIdLst>
    <p:sldId id="268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517" autoAdjust="0"/>
  </p:normalViewPr>
  <p:slideViewPr>
    <p:cSldViewPr snapToGrid="0">
      <p:cViewPr varScale="1">
        <p:scale>
          <a:sx n="91" d="100"/>
          <a:sy n="91" d="100"/>
        </p:scale>
        <p:origin x="370" y="77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1" d="100"/>
          <a:sy n="91" d="100"/>
        </p:scale>
        <p:origin x="3000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9F3C82B-095E-432A-8E4F-E087C387918F}" type="datetime1">
              <a:rPr lang="ru-RU" smtClean="0"/>
              <a:t>14.06.2026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E6B3739-9081-478F-812E-AE7CE140632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121049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0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684735-1BB6-4763-8A8D-34C11DAC25B4}" type="datetime1">
              <a:rPr lang="ru-RU" smtClean="0"/>
              <a:pPr/>
              <a:t>14.06.2026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0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0" dirty="0"/>
              <a:t>Образец текста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0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560CF8BB-EBC7-4B8F-9632-A5A136FBB880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170369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0CF8BB-EBC7-4B8F-9632-A5A136FBB880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302325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0CF8BB-EBC7-4B8F-9632-A5A136FBB880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530930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0CF8BB-EBC7-4B8F-9632-A5A136FBB880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991678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0CF8BB-EBC7-4B8F-9632-A5A136FBB880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471589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0CF8BB-EBC7-4B8F-9632-A5A136FBB880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026938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0CF8BB-EBC7-4B8F-9632-A5A136FBB880}" type="slidenum">
              <a:rPr lang="ru-RU" smtClean="0"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516368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0CF8BB-EBC7-4B8F-9632-A5A136FBB880}" type="slidenum">
              <a:rPr lang="ru-RU" smtClean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775418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0CF8BB-EBC7-4B8F-9632-A5A136FBB880}" type="slidenum">
              <a:rPr lang="ru-RU" smtClean="0"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61296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0CF8BB-EBC7-4B8F-9632-A5A136FBB880}" type="slidenum">
              <a:rPr lang="ru-RU" smtClean="0"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044761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4750C32B-13BC-41B2-AB2D-75A69B5D8E60}" type="datetime1">
              <a:rPr lang="ru-RU" noProof="0" smtClean="0"/>
              <a:t>14.06.2026</a:t>
            </a:fld>
            <a:endParaRPr lang="ru-RU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ru-RU" noProof="0"/>
              <a:t>Добавить нижний колонтитул</a:t>
            </a:r>
            <a:endParaRPr lang="ru-RU" noProof="0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pPr rtl="0"/>
            <a:fld id="{E31375A4-56A4-47D6-9801-1991572033F7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037581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E06C3B4A-3BD8-46EE-A306-574C8F1203AA}" type="datetime1">
              <a:rPr lang="ru-RU" noProof="0" smtClean="0"/>
              <a:t>14.06.2026</a:t>
            </a:fld>
            <a:endParaRPr lang="ru-RU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ru-RU" noProof="0"/>
              <a:t>Добавить нижний колонтитул</a:t>
            </a:r>
            <a:endParaRPr lang="ru-RU" noProof="0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318937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1130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D7066F1-56AD-4A65-8D23-47D03E281CDD}" type="datetime1">
              <a:rPr lang="ru-RU" noProof="0" smtClean="0"/>
              <a:t>14.06.2026</a:t>
            </a:fld>
            <a:endParaRPr lang="ru-RU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ru-RU" noProof="0"/>
              <a:t>Добавить нижний колонтитул</a:t>
            </a:r>
            <a:endParaRPr lang="ru-RU" noProof="0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pPr rtl="0"/>
            <a:fld id="{E31375A4-56A4-47D6-9801-1991572033F7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166606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E4538DC8-A5CF-403B-A700-B1EE2B32A73F}" type="datetime1">
              <a:rPr lang="ru-RU" noProof="0" smtClean="0"/>
              <a:t>14.06.2026</a:t>
            </a:fld>
            <a:endParaRPr lang="ru-RU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ru-RU" noProof="0"/>
              <a:t>Добавить нижний колонтитул</a:t>
            </a:r>
            <a:endParaRPr lang="ru-RU" noProof="0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pPr rtl="0"/>
            <a:fld id="{E31375A4-56A4-47D6-9801-1991572033F7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848605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D48CB36-2A7D-4294-8E4B-2CBD284FA1A2}" type="datetime1">
              <a:rPr lang="ru-RU" noProof="0" smtClean="0"/>
              <a:t>14.06.2026</a:t>
            </a:fld>
            <a:endParaRPr lang="ru-RU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ru-RU" noProof="0"/>
              <a:t>Добавить нижний колонтитул</a:t>
            </a:r>
            <a:endParaRPr lang="ru-RU" noProof="0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426038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71077C20-F13B-4081-A448-651CC7F79BA0}" type="datetime1">
              <a:rPr lang="ru-RU" noProof="0" smtClean="0"/>
              <a:t>14.06.2026</a:t>
            </a:fld>
            <a:endParaRPr lang="ru-RU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ru-RU" noProof="0"/>
              <a:t>Добавить нижний колонтитул</a:t>
            </a:r>
            <a:endParaRPr lang="ru-RU" noProof="0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4071134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6503EF6-DB2E-40D3-9F86-4A2B56C7C971}" type="datetime1">
              <a:rPr lang="ru-RU" noProof="0" smtClean="0"/>
              <a:t>14.06.2026</a:t>
            </a:fld>
            <a:endParaRPr lang="ru-RU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ru-RU" noProof="0"/>
              <a:t>Добавить нижний колонтитул</a:t>
            </a:r>
            <a:endParaRPr lang="ru-RU" noProof="0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487677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D5D09AB-C867-478A-83DC-6160A824546B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161848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74A4930-1B63-4514-8E07-EEB83AF0186B}" type="datetime1">
              <a:rPr lang="ru-RU" noProof="0" smtClean="0"/>
              <a:t>14.06.2026</a:t>
            </a:fld>
            <a:endParaRPr lang="ru-RU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ru-RU" noProof="0"/>
              <a:t>Добавить нижний колонтитул</a:t>
            </a:r>
            <a:endParaRPr lang="ru-RU" noProof="0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pPr rtl="0"/>
            <a:fld id="{E31375A4-56A4-47D6-9801-1991572033F7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403216359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74A4930-1B63-4514-8E07-EEB83AF0186B}" type="datetime1">
              <a:rPr lang="ru-RU" noProof="0" smtClean="0"/>
              <a:t>14.06.2026</a:t>
            </a:fld>
            <a:endParaRPr lang="ru-RU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ru-RU" noProof="0"/>
              <a:t>Добавить нижний колонтитул</a:t>
            </a:r>
            <a:endParaRPr lang="ru-RU" noProof="0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pPr rtl="0"/>
            <a:fld id="{E31375A4-56A4-47D6-9801-1991572033F7}" type="slidenum">
              <a:rPr lang="ru-RU" noProof="0" smtClean="0"/>
              <a:pPr/>
              <a:t>‹#›</a:t>
            </a:fld>
            <a:endParaRPr lang="ru-RU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1906113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74A4930-1B63-4514-8E07-EEB83AF0186B}" type="datetime1">
              <a:rPr lang="ru-RU" noProof="0" smtClean="0"/>
              <a:t>14.06.2026</a:t>
            </a:fld>
            <a:endParaRPr lang="ru-RU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ru-RU" noProof="0"/>
              <a:t>Добавить нижний колонтитул</a:t>
            </a:r>
            <a:endParaRPr lang="ru-RU" noProof="0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pPr rtl="0"/>
            <a:fld id="{E31375A4-56A4-47D6-9801-1991572033F7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548242109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74A4930-1B63-4514-8E07-EEB83AF0186B}" type="datetime1">
              <a:rPr lang="ru-RU" noProof="0" smtClean="0"/>
              <a:t>14.06.2026</a:t>
            </a:fld>
            <a:endParaRPr lang="ru-RU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ru-RU" noProof="0"/>
              <a:t>Добавить нижний колонтитул</a:t>
            </a:r>
            <a:endParaRPr lang="ru-RU" noProof="0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pPr rtl="0"/>
            <a:fld id="{E31375A4-56A4-47D6-9801-1991572033F7}" type="slidenum">
              <a:rPr lang="ru-RU" noProof="0" smtClean="0"/>
              <a:pPr/>
              <a:t>‹#›</a:t>
            </a:fld>
            <a:endParaRPr lang="ru-RU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299932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74A4930-1B63-4514-8E07-EEB83AF0186B}" type="datetime1">
              <a:rPr lang="ru-RU" noProof="0" smtClean="0"/>
              <a:t>14.06.2026</a:t>
            </a:fld>
            <a:endParaRPr lang="ru-RU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ru-RU" noProof="0"/>
              <a:t>Добавить нижний колонтитул</a:t>
            </a:r>
            <a:endParaRPr lang="ru-RU" noProof="0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pPr rtl="0"/>
            <a:fld id="{E31375A4-56A4-47D6-9801-1991572033F7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76818180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71CDA88E-7571-482A-A17D-AE45349CD010}" type="datetime1">
              <a:rPr lang="ru-RU" noProof="0" smtClean="0"/>
              <a:t>14.06.2026</a:t>
            </a:fld>
            <a:endParaRPr lang="ru-RU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ru-RU" noProof="0"/>
              <a:t>Добавить нижний колонтитул</a:t>
            </a:r>
            <a:endParaRPr lang="ru-RU" noProof="0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589239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DAEB8D07-12B7-4CC0-91DA-BA7EDDEA5EBC}" type="datetime1">
              <a:rPr lang="ru-RU" noProof="0" smtClean="0"/>
              <a:t>14.06.2026</a:t>
            </a:fld>
            <a:endParaRPr lang="ru-RU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ru-RU" noProof="0"/>
              <a:t>Добавить нижний колонтитул</a:t>
            </a:r>
            <a:endParaRPr lang="ru-RU" noProof="0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205780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1077C20-F13B-4081-A448-651CC7F79BA0}" type="datetime1">
              <a:rPr lang="ru-RU" noProof="0" smtClean="0"/>
              <a:t>14.06.2026</a:t>
            </a:fld>
            <a:endParaRPr lang="ru-RU" noProof="0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374A4930-1B63-4514-8E07-EEB83AF0186B}" type="datetime1">
              <a:rPr lang="ru-RU" noProof="0" smtClean="0"/>
              <a:t>14.06.2026</a:t>
            </a:fld>
            <a:endParaRPr lang="ru-RU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ru-RU" noProof="0"/>
              <a:t>Добавить нижний колонтитул</a:t>
            </a:r>
            <a:endParaRPr lang="ru-RU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pPr rtl="0"/>
            <a:fld id="{E31375A4-56A4-47D6-9801-1991572033F7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429002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55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 rtlCol="0">
            <a:normAutofit/>
          </a:bodyPr>
          <a:lstStyle/>
          <a:p>
            <a:r>
              <a:rPr lang="ru-RU" sz="3600" dirty="0">
                <a:solidFill>
                  <a:schemeClr val="tx2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Результаты работы «Анализ и сегментация клиентов с помощью алгоритмов кластеризации»</a:t>
            </a:r>
            <a:endParaRPr lang="ru-RU" sz="36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ru-RU" dirty="0"/>
              <a:t>Выполнил</a:t>
            </a:r>
            <a:r>
              <a:rPr lang="en-US" dirty="0"/>
              <a:t>:</a:t>
            </a:r>
            <a:r>
              <a:rPr lang="ru-RU" dirty="0"/>
              <a:t> Николаев М.А.</a:t>
            </a:r>
          </a:p>
        </p:txBody>
      </p:sp>
    </p:spTree>
    <p:extLst>
      <p:ext uri="{BB962C8B-B14F-4D97-AF65-F5344CB8AC3E}">
        <p14:creationId xmlns:p14="http://schemas.microsoft.com/office/powerpoint/2010/main" val="24132519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40156" y="624110"/>
            <a:ext cx="8911687" cy="1280890"/>
          </a:xfrm>
        </p:spPr>
        <p:txBody>
          <a:bodyPr rtlCol="0"/>
          <a:lstStyle/>
          <a:p>
            <a:pPr algn="ctr" rtl="0"/>
            <a:r>
              <a:rPr lang="ru-RU" dirty="0"/>
              <a:t>Введение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00868" y="1683677"/>
            <a:ext cx="5377435" cy="4483101"/>
          </a:xfrm>
        </p:spPr>
        <p:txBody>
          <a:bodyPr rtlCol="0"/>
          <a:lstStyle/>
          <a:p>
            <a:pPr marL="0" indent="0" algn="just">
              <a:buNone/>
            </a:pPr>
            <a:r>
              <a:rPr lang="ru-RU" b="1" dirty="0">
                <a:latin typeface="Segoe UI" panose="020B0502040204020203" pitchFamily="34" charset="0"/>
                <a:cs typeface="Segoe UI" panose="020B0502040204020203" pitchFamily="34" charset="0"/>
              </a:rPr>
              <a:t>Цель работы</a:t>
            </a: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: разработать систему сегментации клиентов для розничной компании с использованием алгоритмов кластеризации. Эта разработка ориентирована на улучшение понимания клиентов, </a:t>
            </a:r>
            <a:r>
              <a:rPr lang="ru-RU" dirty="0" err="1">
                <a:latin typeface="Segoe UI" panose="020B0502040204020203" pitchFamily="34" charset="0"/>
                <a:cs typeface="Segoe UI" panose="020B0502040204020203" pitchFamily="34" charset="0"/>
              </a:rPr>
              <a:t>персонализирование</a:t>
            </a: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 маркетинговых кампаний и оптимизирование бизнес-процессов.</a:t>
            </a:r>
          </a:p>
          <a:p>
            <a:pPr marL="0" indent="0" algn="just">
              <a:buNone/>
            </a:pPr>
            <a:endParaRPr lang="ru-RU" dirty="0"/>
          </a:p>
        </p:txBody>
      </p:sp>
      <p:pic>
        <p:nvPicPr>
          <p:cNvPr id="1034" name="Picture 10" descr="Picture background">
            <a:extLst>
              <a:ext uri="{FF2B5EF4-FFF2-40B4-BE49-F238E27FC236}">
                <a16:creationId xmlns:a16="http://schemas.microsoft.com/office/drawing/2014/main" id="{1C44CF5B-BEC6-46EF-A0CA-B9A37E3FF8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9725" y="1683677"/>
            <a:ext cx="4142858" cy="4142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3332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40156" y="534280"/>
            <a:ext cx="8911687" cy="1280890"/>
          </a:xfrm>
        </p:spPr>
        <p:txBody>
          <a:bodyPr rtlCol="0"/>
          <a:lstStyle/>
          <a:p>
            <a:pPr algn="ctr" rtl="0"/>
            <a:r>
              <a:rPr lang="ru-RU" dirty="0"/>
              <a:t>Введение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B1FB8A7-6637-EA93-8E58-0105AFB18B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4567" y="1482170"/>
            <a:ext cx="5893837" cy="4483101"/>
          </a:xfrm>
        </p:spPr>
        <p:txBody>
          <a:bodyPr>
            <a:normAutofit/>
          </a:bodyPr>
          <a:lstStyle/>
          <a:p>
            <a:r>
              <a:rPr lang="ru-RU" b="1" dirty="0">
                <a:latin typeface="Segoe UI" panose="020B0502040204020203" pitchFamily="34" charset="0"/>
                <a:cs typeface="Segoe UI" panose="020B0502040204020203" pitchFamily="34" charset="0"/>
              </a:rPr>
              <a:t>Значимость для бизнеса</a:t>
            </a: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: Розничные компании сталкиваются с проблемой анализа большого количества данных о своих клиентах, таких как, например, историю покупок, демографическую информацию и поведенческие характеристики. Однако без должного анализа эти данные остаются неиспользованными. Сегментация клиентов позволяет выделить группы с общими характеристиками, чтобы более эффективно использовать предложения и тем самым повысить удовлетворенность клиентов</a:t>
            </a:r>
            <a:endParaRPr lang="ru-RU" dirty="0"/>
          </a:p>
        </p:txBody>
      </p: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8B69E581-4118-4660-95AE-1B6B1CA602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505" y="1505240"/>
            <a:ext cx="3740107" cy="3705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6955843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40156" y="389219"/>
            <a:ext cx="8911687" cy="1280890"/>
          </a:xfrm>
        </p:spPr>
        <p:txBody>
          <a:bodyPr rtlCol="0"/>
          <a:lstStyle/>
          <a:p>
            <a:pPr algn="ctr" rtl="0"/>
            <a:r>
              <a:rPr lang="ru-RU" dirty="0"/>
              <a:t>Методология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667500" y="1887893"/>
            <a:ext cx="4572000" cy="4480560"/>
          </a:xfrm>
        </p:spPr>
        <p:txBody>
          <a:bodyPr rtlCol="0">
            <a:normAutofit lnSpcReduction="10000"/>
          </a:bodyPr>
          <a:lstStyle/>
          <a:p>
            <a:pPr marL="342900" indent="-342900">
              <a:buClr>
                <a:schemeClr val="bg2">
                  <a:lumMod val="75000"/>
                </a:schemeClr>
              </a:buClr>
              <a:buFont typeface="+mj-lt"/>
              <a:buAutoNum type="arabicPeriod"/>
            </a:pPr>
            <a:r>
              <a:rPr lang="ru-RU" sz="1600" dirty="0">
                <a:latin typeface="Segoe UI" panose="020B0502040204020203" pitchFamily="34" charset="0"/>
                <a:cs typeface="Segoe UI" panose="020B0502040204020203" pitchFamily="34" charset="0"/>
              </a:rPr>
              <a:t>Сбор и первичный анализ данных (EDA)</a:t>
            </a:r>
          </a:p>
          <a:p>
            <a:pPr marL="342900" indent="-342900">
              <a:buClr>
                <a:schemeClr val="bg2">
                  <a:lumMod val="75000"/>
                </a:schemeClr>
              </a:buClr>
              <a:buFont typeface="+mj-lt"/>
              <a:buAutoNum type="arabicPeriod"/>
            </a:pPr>
            <a:r>
              <a:rPr lang="ru-RU" sz="1600" dirty="0">
                <a:latin typeface="Segoe UI" panose="020B0502040204020203" pitchFamily="34" charset="0"/>
                <a:cs typeface="Segoe UI" panose="020B0502040204020203" pitchFamily="34" charset="0"/>
              </a:rPr>
              <a:t>Предобработка данных:</a:t>
            </a:r>
          </a:p>
          <a:p>
            <a:pPr lvl="1">
              <a:buClr>
                <a:schemeClr val="bg2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Проверка базы данных на отсутствующие строки</a:t>
            </a:r>
            <a:endParaRPr lang="ru-RU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>
              <a:buClr>
                <a:schemeClr val="bg2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ru-RU" sz="1600" dirty="0">
                <a:latin typeface="Segoe UI" panose="020B0502040204020203" pitchFamily="34" charset="0"/>
                <a:cs typeface="Segoe UI" panose="020B0502040204020203" pitchFamily="34" charset="0"/>
              </a:rPr>
              <a:t>Проверка базы данных на записи с нулевыми или отрицательными ценами</a:t>
            </a:r>
          </a:p>
          <a:p>
            <a:pPr lvl="1">
              <a:buClr>
                <a:schemeClr val="bg2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Проверка на </a:t>
            </a:r>
            <a:r>
              <a:rPr lang="ru-RU" sz="1600" dirty="0">
                <a:latin typeface="Segoe UI" panose="020B0502040204020203" pitchFamily="34" charset="0"/>
                <a:cs typeface="Segoe UI" panose="020B0502040204020203" pitchFamily="34" charset="0"/>
              </a:rPr>
              <a:t>полные дубликаты записей</a:t>
            </a:r>
          </a:p>
          <a:p>
            <a:pPr lvl="1">
              <a:buClr>
                <a:schemeClr val="bg2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ru-RU" sz="1600" dirty="0">
                <a:latin typeface="Segoe UI" panose="020B0502040204020203" pitchFamily="34" charset="0"/>
                <a:cs typeface="Segoe UI" panose="020B0502040204020203" pitchFamily="34" charset="0"/>
              </a:rPr>
              <a:t>RFM-анализ</a:t>
            </a:r>
          </a:p>
          <a:p>
            <a:pPr lvl="1">
              <a:buClr>
                <a:schemeClr val="bg2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ru-RU" sz="1600" dirty="0">
                <a:latin typeface="Segoe UI" panose="020B0502040204020203" pitchFamily="34" charset="0"/>
                <a:cs typeface="Segoe UI" panose="020B0502040204020203" pitchFamily="34" charset="0"/>
              </a:rPr>
              <a:t>Нормализация и снижение размерности</a:t>
            </a:r>
          </a:p>
          <a:p>
            <a:pPr marL="342900" indent="-342900">
              <a:buClr>
                <a:schemeClr val="bg2">
                  <a:lumMod val="75000"/>
                </a:schemeClr>
              </a:buClr>
              <a:buFont typeface="+mj-lt"/>
              <a:buAutoNum type="arabicPeriod"/>
            </a:pPr>
            <a:r>
              <a:rPr lang="ru-RU" sz="1600" dirty="0">
                <a:latin typeface="Segoe UI" panose="020B0502040204020203" pitchFamily="34" charset="0"/>
                <a:cs typeface="Segoe UI" panose="020B0502040204020203" pitchFamily="34" charset="0"/>
              </a:rPr>
              <a:t>Применение алгоритмов кластеризации (</a:t>
            </a:r>
            <a:r>
              <a:rPr lang="ru-RU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Kmeans</a:t>
            </a:r>
            <a:r>
              <a:rPr lang="ru-RU" sz="1600" dirty="0">
                <a:latin typeface="Segoe UI" panose="020B0502040204020203" pitchFamily="34" charset="0"/>
                <a:cs typeface="Segoe UI" panose="020B0502040204020203" pitchFamily="34" charset="0"/>
              </a:rPr>
              <a:t>, DB</a:t>
            </a:r>
            <a:r>
              <a:rPr lang="en-GB" sz="1600" dirty="0">
                <a:latin typeface="Segoe UI" panose="020B0502040204020203" pitchFamily="34" charset="0"/>
                <a:cs typeface="Segoe UI" panose="020B0502040204020203" pitchFamily="34" charset="0"/>
              </a:rPr>
              <a:t>SC</a:t>
            </a:r>
            <a:r>
              <a:rPr lang="ru-RU" sz="1600" dirty="0">
                <a:latin typeface="Segoe UI" panose="020B0502040204020203" pitchFamily="34" charset="0"/>
                <a:cs typeface="Segoe UI" panose="020B0502040204020203" pitchFamily="34" charset="0"/>
              </a:rPr>
              <a:t>AN, иерархическая)</a:t>
            </a:r>
          </a:p>
          <a:p>
            <a:pPr marL="342900" indent="-342900">
              <a:buClr>
                <a:schemeClr val="bg2">
                  <a:lumMod val="75000"/>
                </a:schemeClr>
              </a:buClr>
              <a:buFont typeface="+mj-lt"/>
              <a:buAutoNum type="arabicPeriod"/>
            </a:pPr>
            <a:r>
              <a:rPr lang="ru-RU" sz="1600" dirty="0">
                <a:latin typeface="Segoe UI" panose="020B0502040204020203" pitchFamily="34" charset="0"/>
                <a:cs typeface="Segoe UI" panose="020B0502040204020203" pitchFamily="34" charset="0"/>
              </a:rPr>
              <a:t>Оценка качества кластеризации</a:t>
            </a:r>
          </a:p>
          <a:p>
            <a:pPr rtl="0"/>
            <a:endParaRPr lang="ru-RU" dirty="0"/>
          </a:p>
        </p:txBody>
      </p:sp>
      <p:pic>
        <p:nvPicPr>
          <p:cNvPr id="3076" name="Picture 4" descr="Picture background">
            <a:extLst>
              <a:ext uri="{FF2B5EF4-FFF2-40B4-BE49-F238E27FC236}">
                <a16:creationId xmlns:a16="http://schemas.microsoft.com/office/drawing/2014/main" id="{57AFF8DE-D528-42C6-AD3F-619D92EE98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6738" y="1283516"/>
            <a:ext cx="4829262" cy="4829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B322476-3B5E-4CF1-9EEF-28A1430BFB91}"/>
              </a:ext>
            </a:extLst>
          </p:cNvPr>
          <p:cNvSpPr txBox="1"/>
          <p:nvPr/>
        </p:nvSpPr>
        <p:spPr>
          <a:xfrm>
            <a:off x="1554759" y="5784679"/>
            <a:ext cx="42532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dirty="0"/>
              <a:t>Люблю пустые стоковые изображения, которые не пустые</a:t>
            </a:r>
          </a:p>
        </p:txBody>
      </p:sp>
    </p:spTree>
    <p:extLst>
      <p:ext uri="{BB962C8B-B14F-4D97-AF65-F5344CB8AC3E}">
        <p14:creationId xmlns:p14="http://schemas.microsoft.com/office/powerpoint/2010/main" val="40198384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09697" y="362284"/>
            <a:ext cx="9372600" cy="1295400"/>
          </a:xfrm>
        </p:spPr>
        <p:txBody>
          <a:bodyPr rtlCol="0"/>
          <a:lstStyle/>
          <a:p>
            <a:pPr algn="ctr" rtl="0"/>
            <a:r>
              <a:rPr lang="ru-RU" dirty="0"/>
              <a:t>Результаты</a:t>
            </a:r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752549AF-189F-AB37-50D5-5F8F94005BE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2629013" y="1034242"/>
            <a:ext cx="6933973" cy="5024407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7C6CAB2-825B-2F3F-AC5B-DF83CAB7E3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6894" y="1028700"/>
            <a:ext cx="6498209" cy="4984811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C5EA8BF-7768-46C6-0E10-C096562DEA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9011" y="1055123"/>
            <a:ext cx="6933973" cy="4958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66491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40156" y="592624"/>
            <a:ext cx="8911687" cy="1280890"/>
          </a:xfrm>
        </p:spPr>
        <p:txBody>
          <a:bodyPr rtlCol="0"/>
          <a:lstStyle/>
          <a:p>
            <a:pPr algn="ctr" rtl="0"/>
            <a:r>
              <a:rPr lang="ru-RU" dirty="0"/>
              <a:t>Результаты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28E4077D-284F-F67D-159F-01D3613913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57394" y="1782276"/>
            <a:ext cx="9020212" cy="448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6195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81200" y="381000"/>
            <a:ext cx="9372600" cy="794657"/>
          </a:xfrm>
        </p:spPr>
        <p:txBody>
          <a:bodyPr rtlCol="0"/>
          <a:lstStyle/>
          <a:p>
            <a:pPr algn="ctr" rtl="0"/>
            <a:r>
              <a:rPr lang="ru-RU" dirty="0"/>
              <a:t>Результаты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half" idx="2"/>
          </p:nvPr>
        </p:nvSpPr>
        <p:spPr>
          <a:xfrm>
            <a:off x="1707502" y="4111751"/>
            <a:ext cx="6622766" cy="2365249"/>
          </a:xfrm>
        </p:spPr>
        <p:txBody>
          <a:bodyPr rtlCol="0">
            <a:normAutofit/>
          </a:bodyPr>
          <a:lstStyle/>
          <a:p>
            <a:pPr marL="0" indent="0">
              <a:buClr>
                <a:schemeClr val="bg2">
                  <a:lumMod val="75000"/>
                </a:schemeClr>
              </a:buClr>
              <a:buNone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Кластер 0: Экономные и частые покупатели</a:t>
            </a:r>
          </a:p>
          <a:p>
            <a:pPr marL="0" indent="0">
              <a:buClr>
                <a:schemeClr val="bg2">
                  <a:lumMod val="75000"/>
                </a:schemeClr>
              </a:buClr>
              <a:buNone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Кластер 1: Новые или угасающие покупатели</a:t>
            </a:r>
          </a:p>
          <a:p>
            <a:pPr marL="0" indent="0">
              <a:buClr>
                <a:schemeClr val="bg2">
                  <a:lumMod val="75000"/>
                </a:schemeClr>
              </a:buClr>
              <a:buNone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Кластер 2: Самые ценные покупатели (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vip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клиенты)</a:t>
            </a:r>
          </a:p>
          <a:p>
            <a:pPr rtl="0"/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73A3528-ADE0-F588-DCD6-6629BD0DCF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5237" y="1355035"/>
            <a:ext cx="9498563" cy="2577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8932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40156" y="657666"/>
            <a:ext cx="8911687" cy="1280890"/>
          </a:xfrm>
        </p:spPr>
        <p:txBody>
          <a:bodyPr rtlCol="0"/>
          <a:lstStyle/>
          <a:p>
            <a:pPr algn="ctr" rtl="0"/>
            <a:r>
              <a:rPr lang="ru-RU" dirty="0"/>
              <a:t>Рекомендации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A6C108-C2FF-B418-54A5-665C5EE917FB}"/>
              </a:ext>
            </a:extLst>
          </p:cNvPr>
          <p:cNvSpPr txBox="1"/>
          <p:nvPr/>
        </p:nvSpPr>
        <p:spPr>
          <a:xfrm>
            <a:off x="1488232" y="1737205"/>
            <a:ext cx="7152430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2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2800" dirty="0">
                <a:latin typeface="Segoe UI" panose="020B0502040204020203" pitchFamily="34" charset="0"/>
                <a:cs typeface="Segoe UI" panose="020B0502040204020203" pitchFamily="34" charset="0"/>
              </a:rPr>
              <a:t> Предлагать акции со скидками, в зависимости от количества покупок, вроде 2+1, что может подтолкнуть покупателя потратить больше денег.</a:t>
            </a:r>
          </a:p>
          <a:p>
            <a:pPr>
              <a:buClr>
                <a:schemeClr val="bg2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2800" dirty="0">
                <a:latin typeface="Segoe UI" panose="020B0502040204020203" pitchFamily="34" charset="0"/>
                <a:cs typeface="Segoe UI" panose="020B0502040204020203" pitchFamily="34" charset="0"/>
              </a:rPr>
              <a:t> Предоставлять персональные скидки и специальные предложения на основе истории покупок, аккаунт пользователя, скидки по карте магазина.</a:t>
            </a:r>
          </a:p>
          <a:p>
            <a:pPr>
              <a:buClr>
                <a:schemeClr val="bg2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2800" dirty="0">
                <a:latin typeface="Segoe UI" panose="020B0502040204020203" pitchFamily="34" charset="0"/>
                <a:cs typeface="Segoe UI" panose="020B0502040204020203" pitchFamily="34" charset="0"/>
              </a:rPr>
              <a:t> Предложить скидки на следующий заказ с ограниченным сроком действия.</a:t>
            </a:r>
          </a:p>
          <a:p>
            <a:endParaRPr lang="ru-RU" dirty="0"/>
          </a:p>
        </p:txBody>
      </p:sp>
      <p:pic>
        <p:nvPicPr>
          <p:cNvPr id="4098" name="Picture 2" descr="Picture background">
            <a:extLst>
              <a:ext uri="{FF2B5EF4-FFF2-40B4-BE49-F238E27FC236}">
                <a16:creationId xmlns:a16="http://schemas.microsoft.com/office/drawing/2014/main" id="{98DD5057-3A2E-4A4A-BDF8-73FDFCA8A9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0662" y="1853967"/>
            <a:ext cx="3150066" cy="3150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23011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40156" y="587007"/>
            <a:ext cx="8911687" cy="1280890"/>
          </a:xfrm>
        </p:spPr>
        <p:txBody>
          <a:bodyPr rtlCol="0"/>
          <a:lstStyle/>
          <a:p>
            <a:pPr algn="ctr" rtl="0"/>
            <a:r>
              <a:rPr lang="ru-RU" dirty="0"/>
              <a:t>Заключение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4C76C233-74D9-6381-92CA-D2C3F0291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23441" y="1283516"/>
            <a:ext cx="7998014" cy="529345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 В ходе работы была разработана система сегментации клиентов на основе RFM-анализа. Наилучший результат показал алгоритм K-</a:t>
            </a:r>
            <a:r>
              <a:rPr lang="ru-RU" dirty="0" err="1">
                <a:latin typeface="Segoe UI" panose="020B0502040204020203" pitchFamily="34" charset="0"/>
                <a:cs typeface="Segoe UI" panose="020B0502040204020203" pitchFamily="34" charset="0"/>
              </a:rPr>
              <a:t>Means</a:t>
            </a: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, выделивший три четких сегмента: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  <a:sym typeface="Wingdings" panose="05000000000000000000" pitchFamily="2" charset="2"/>
              </a:rPr>
              <a:t> </a:t>
            </a: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VIP-клиенты (покупают часто и дорого)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  <a:sym typeface="Wingdings" panose="05000000000000000000" pitchFamily="2" charset="2"/>
              </a:rPr>
              <a:t> </a:t>
            </a: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Основные покупатели (самая многочисленная группа со средними показателями)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  <a:sym typeface="Wingdings" panose="05000000000000000000" pitchFamily="2" charset="2"/>
              </a:rPr>
              <a:t> </a:t>
            </a: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Новые или угасающие клиенты (покупают редко и дёшево).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 Для каждого сегмента предложены целевые маркетинговые стратегии: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  <a:sym typeface="Wingdings" panose="05000000000000000000" pitchFamily="2" charset="2"/>
              </a:rPr>
              <a:t> </a:t>
            </a: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VIP-клиенты — программы лояльности и удержания,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  <a:sym typeface="Wingdings" panose="05000000000000000000" pitchFamily="2" charset="2"/>
              </a:rPr>
              <a:t> </a:t>
            </a: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Основная группа — стимулирование роста чека и частоты покупок,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  <a:sym typeface="Wingdings" panose="05000000000000000000" pitchFamily="2" charset="2"/>
              </a:rPr>
              <a:t> </a:t>
            </a: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Угасающие клиенты — реактивация через скидки и </a:t>
            </a:r>
            <a:r>
              <a:rPr lang="ru-RU" dirty="0" err="1">
                <a:latin typeface="Segoe UI" panose="020B0502040204020203" pitchFamily="34" charset="0"/>
                <a:cs typeface="Segoe UI" panose="020B0502040204020203" pitchFamily="34" charset="0"/>
              </a:rPr>
              <a:t>промокоды</a:t>
            </a: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 Внедрение этих рекомендаций позволит компании не только повысить лояльность клиентов, но и оптимизировать маркетинговые расходы, а так же увеличить прибыль, а значит, ценность методов кластеризации для розничного бизнесы была подтверждена.</a:t>
            </a:r>
          </a:p>
          <a:p>
            <a:pPr>
              <a:spcBef>
                <a:spcPts val="600"/>
              </a:spcBef>
            </a:pPr>
            <a:endParaRPr lang="ru-RU" dirty="0"/>
          </a:p>
        </p:txBody>
      </p:sp>
      <p:pic>
        <p:nvPicPr>
          <p:cNvPr id="5122" name="Picture 2" descr="Picture background">
            <a:extLst>
              <a:ext uri="{FF2B5EF4-FFF2-40B4-BE49-F238E27FC236}">
                <a16:creationId xmlns:a16="http://schemas.microsoft.com/office/drawing/2014/main" id="{0B826FA4-57D5-4608-896C-BCCEB0DF8E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11029" y="1867897"/>
            <a:ext cx="3283592" cy="3473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85948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Легкий дым">
  <a:themeElements>
    <a:clrScheme name="Легкий дым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Легкий дым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Легкий дым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Тема Office">
  <a:themeElements>
    <a:clrScheme name="WireframeBuilding">
      <a:dk1>
        <a:srgbClr val="404040"/>
      </a:dk1>
      <a:lt1>
        <a:sysClr val="window" lastClr="FFFFFF"/>
      </a:lt1>
      <a:dk2>
        <a:srgbClr val="000000"/>
      </a:dk2>
      <a:lt2>
        <a:srgbClr val="E4F9F9"/>
      </a:lt2>
      <a:accent1>
        <a:srgbClr val="1BDCFF"/>
      </a:accent1>
      <a:accent2>
        <a:srgbClr val="3AC673"/>
      </a:accent2>
      <a:accent3>
        <a:srgbClr val="F6BD1E"/>
      </a:accent3>
      <a:accent4>
        <a:srgbClr val="C74167"/>
      </a:accent4>
      <a:accent5>
        <a:srgbClr val="F17E1F"/>
      </a:accent5>
      <a:accent6>
        <a:srgbClr val="6681CC"/>
      </a:accent6>
      <a:hlink>
        <a:srgbClr val="F17E1F"/>
      </a:hlink>
      <a:folHlink>
        <a:srgbClr val="969696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WireframeBuilding">
      <a:dk1>
        <a:srgbClr val="404040"/>
      </a:dk1>
      <a:lt1>
        <a:sysClr val="window" lastClr="FFFFFF"/>
      </a:lt1>
      <a:dk2>
        <a:srgbClr val="000000"/>
      </a:dk2>
      <a:lt2>
        <a:srgbClr val="E4F9F9"/>
      </a:lt2>
      <a:accent1>
        <a:srgbClr val="1BDCFF"/>
      </a:accent1>
      <a:accent2>
        <a:srgbClr val="3AC673"/>
      </a:accent2>
      <a:accent3>
        <a:srgbClr val="F6BD1E"/>
      </a:accent3>
      <a:accent4>
        <a:srgbClr val="C74167"/>
      </a:accent4>
      <a:accent5>
        <a:srgbClr val="F17E1F"/>
      </a:accent5>
      <a:accent6>
        <a:srgbClr val="6681CC"/>
      </a:accent6>
      <a:hlink>
        <a:srgbClr val="F17E1F"/>
      </a:hlink>
      <a:folHlink>
        <a:srgbClr val="969696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3F7D94069FF64A86F7DFF56D60E3BE" ma:contentTypeVersion="6" ma:contentTypeDescription="Create a new document." ma:contentTypeScope="" ma:versionID="c32302c77d4085ecf495bdddb7f5e889">
  <xsd:schema xmlns:xsd="http://www.w3.org/2001/XMLSchema" xmlns:xs="http://www.w3.org/2001/XMLSchema" xmlns:p="http://schemas.microsoft.com/office/2006/metadata/properties" xmlns:ns2="a4f35948-e619-41b3-aa29-22878b09cfd2" xmlns:ns3="40262f94-9f35-4ac3-9a90-690165a166b7" targetNamespace="http://schemas.microsoft.com/office/2006/metadata/properties" ma:root="true" ma:fieldsID="4ab5ae46be95f9d0be6107e8200be7a2" ns2:_="" ns3:_="">
    <xsd:import namespace="a4f35948-e619-41b3-aa29-22878b09cfd2"/>
    <xsd:import namespace="40262f94-9f35-4ac3-9a90-690165a166b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VSO_x0020_item_x0020_id" minOccurs="0"/>
                <xsd:element ref="ns3:Item_x0020_Details" minOccurs="0"/>
                <xsd:element ref="ns3:Template_x0020_details" minOccurs="0"/>
                <xsd:element ref="ns3:Assetid_x002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f35948-e619-41b3-aa29-22878b09cfd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262f94-9f35-4ac3-9a90-690165a166b7" elementFormDefault="qualified">
    <xsd:import namespace="http://schemas.microsoft.com/office/2006/documentManagement/types"/>
    <xsd:import namespace="http://schemas.microsoft.com/office/infopath/2007/PartnerControls"/>
    <xsd:element name="VSO_x0020_item_x0020_id" ma:index="10" nillable="true" ma:displayName="VSO item id" ma:description="Please add the bug number to refer to VSO items." ma:internalName="VSO_x0020_item_x0020_id">
      <xsd:simpleType>
        <xsd:restriction base="dms:Text">
          <xsd:maxLength value="255"/>
        </xsd:restriction>
      </xsd:simpleType>
    </xsd:element>
    <xsd:element name="Item_x0020_Details" ma:index="11" nillable="true" ma:displayName="Item Details" ma:internalName="Item_x0020_Details">
      <xsd:simpleType>
        <xsd:restriction base="dms:Note">
          <xsd:maxLength value="255"/>
        </xsd:restriction>
      </xsd:simpleType>
    </xsd:element>
    <xsd:element name="Template_x0020_details" ma:index="12" nillable="true" ma:displayName="Template details" ma:internalName="Template_x0020_details">
      <xsd:simpleType>
        <xsd:restriction base="dms:Text"/>
      </xsd:simpleType>
    </xsd:element>
    <xsd:element name="Assetid_x0020_" ma:index="13" nillable="true" ma:displayName="Assetid " ma:internalName="Assetid_x0020_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VSO_x0020_item_x0020_id xmlns="40262f94-9f35-4ac3-9a90-690165a166b7" xsi:nil="true"/>
    <Assetid_x0020_ xmlns="40262f94-9f35-4ac3-9a90-690165a166b7" xsi:nil="true"/>
    <Item_x0020_Details xmlns="40262f94-9f35-4ac3-9a90-690165a166b7" xsi:nil="true"/>
    <Template_x0020_details xmlns="40262f94-9f35-4ac3-9a90-690165a166b7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DD6EEDF-527A-4587-A446-F1DE3EAF9DA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f35948-e619-41b3-aa29-22878b09cfd2"/>
    <ds:schemaRef ds:uri="40262f94-9f35-4ac3-9a90-690165a166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630C5B9-1E5F-4356-968E-2FC64955BFF3}">
  <ds:schemaRefs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40262f94-9f35-4ac3-9a90-690165a166b7"/>
    <ds:schemaRef ds:uri="a4f35948-e619-41b3-aa29-22878b09cfd2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2E6DFB71-5650-4E53-8134-FCF33ECDD3D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108</TotalTime>
  <Words>392</Words>
  <Application>Microsoft Office PowerPoint</Application>
  <PresentationFormat>Широкоэкранный</PresentationFormat>
  <Paragraphs>46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6" baseType="lpstr">
      <vt:lpstr>Arial</vt:lpstr>
      <vt:lpstr>Calibri</vt:lpstr>
      <vt:lpstr>Century Gothic</vt:lpstr>
      <vt:lpstr>Segoe UI</vt:lpstr>
      <vt:lpstr>Wingdings</vt:lpstr>
      <vt:lpstr>Wingdings 3</vt:lpstr>
      <vt:lpstr>Легкий дым</vt:lpstr>
      <vt:lpstr>Результаты работы «Анализ и сегментация клиентов с помощью алгоритмов кластеризации»</vt:lpstr>
      <vt:lpstr>Введение</vt:lpstr>
      <vt:lpstr>Введение</vt:lpstr>
      <vt:lpstr>Методология</vt:lpstr>
      <vt:lpstr>Результаты</vt:lpstr>
      <vt:lpstr>Результаты</vt:lpstr>
      <vt:lpstr>Результаты</vt:lpstr>
      <vt:lpstr>Рекомендации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Результаты работы «Анализ и сегментация клиентов с помощью алгоритмов кластеризации»</dc:title>
  <dc:creator>babarik.06@gmail.com</dc:creator>
  <cp:lastModifiedBy>Николаев Максим</cp:lastModifiedBy>
  <cp:revision>8</cp:revision>
  <dcterms:created xsi:type="dcterms:W3CDTF">2026-06-07T23:02:19Z</dcterms:created>
  <dcterms:modified xsi:type="dcterms:W3CDTF">2026-06-14T18:53:27Z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